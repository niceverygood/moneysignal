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F5B80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3291840" cy="3291840"/>
          </a:xfrm>
          <a:prstGeom prst="ellipse">
            <a:avLst/>
          </a:prstGeom>
          <a:solidFill>
            <a:srgbClr val="FF8F0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</a:t>
            </a:r>
            <a:pPr indent="0" marL="0">
              <a:buNone/>
            </a:pPr>
            <a:r>
              <a:rPr lang="en-US" sz="1600" b="1" spc="2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97112" y="548640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1A1D26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7112" y="5486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PARTNERSHIP PROPOSAL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파트너 제휴 제안서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시그널을 만들고, </a:t>
            </a:r>
            <a:pPr indent="0" marL="0">
              <a:buNone/>
            </a:pPr>
            <a:r>
              <a:rPr lang="en-US" sz="2100" b="1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당신은 브랜드로 수익을 얻습니다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4462272"/>
            <a:ext cx="128016" cy="128016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매출의 80~88% 배분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4297680"/>
            <a:ext cx="2139696" cy="457200"/>
          </a:xfrm>
          <a:prstGeom prst="roundRect">
            <a:avLst>
              <a:gd name="adj" fmla="val 50000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4462272"/>
            <a:ext cx="128016" cy="128016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42976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시그널 자동 공급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0096" y="4297680"/>
            <a:ext cx="2139696" cy="457200"/>
          </a:xfrm>
          <a:prstGeom prst="roundRect">
            <a:avLst>
              <a:gd name="adj" fmla="val 50000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04688" y="4462272"/>
            <a:ext cx="128016" cy="128016"/>
          </a:xfrm>
          <a:prstGeom prst="ellipse">
            <a:avLst/>
          </a:prstGeom>
          <a:solidFill>
            <a:srgbClr val="448AFF"/>
          </a:solidFill>
          <a:ln/>
        </p:spPr>
      </p:sp>
      <p:sp>
        <p:nvSpPr>
          <p:cNvPr id="17" name="Text 15"/>
          <p:cNvSpPr/>
          <p:nvPr/>
        </p:nvSpPr>
        <p:spPr>
          <a:xfrm>
            <a:off x="5705856" y="42976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결제·정산 인프라 제공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943600"/>
            <a:ext cx="11091672" cy="0"/>
          </a:xfrm>
          <a:prstGeom prst="line">
            <a:avLst/>
          </a:prstGeom>
          <a:noFill/>
          <a:ln w="12700">
            <a:solidFill>
              <a:srgbClr val="2A2D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053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리딩방·트레이딩 채널 운영자를 위한 제휴 프로그램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11512" y="6053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04120" y="2286000"/>
            <a:ext cx="1188720" cy="1188720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3187" y="2595067"/>
            <a:ext cx="570586" cy="5705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82296" cy="60350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리딩방 운영, 혼자서는 한계가 있습니다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91440" cy="9144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  ·  파트너 제휴 제안서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984248"/>
            <a:ext cx="868680" cy="868680"/>
          </a:xfrm>
          <a:prstGeom prst="ellipse">
            <a:avLst/>
          </a:prstGeom>
          <a:solidFill>
            <a:srgbClr val="FF8F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2210105"/>
            <a:ext cx="416966" cy="4169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11680" y="1947672"/>
            <a:ext cx="3625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매일 콘텐츠 압박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011680" y="2441448"/>
            <a:ext cx="35798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분석·시그널을 직접 매일 생산해야 하는 부담. 하루만 쉬어도 이탈이 시작됩니다.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77356" y="160020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43116" y="1984248"/>
            <a:ext cx="868680" cy="868680"/>
          </a:xfrm>
          <a:prstGeom prst="ellipse">
            <a:avLst/>
          </a:prstGeom>
          <a:solidFill>
            <a:srgbClr val="448A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973" y="2210105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40396" y="1947672"/>
            <a:ext cx="3625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결제·정산 수작업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740396" y="2441448"/>
            <a:ext cx="35798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입금 확인, 구독 관리, 환불을 수기로. 규모가 커질수록 운영이 무너집니다.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365760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4400" y="4041648"/>
            <a:ext cx="868680" cy="868680"/>
          </a:xfrm>
          <a:prstGeom prst="ellipse">
            <a:avLst/>
          </a:prstGeom>
          <a:solidFill>
            <a:srgbClr val="E040F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57" y="4267505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11680" y="4005072"/>
            <a:ext cx="3625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 입증의 어려움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2011680" y="4498848"/>
            <a:ext cx="35798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성과를 객관적으로 증명할 방법이 없어 신규 구독자 설득이 늘 어렵습니다.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77356" y="365760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43116" y="4041648"/>
            <a:ext cx="868680" cy="868680"/>
          </a:xfrm>
          <a:prstGeom prst="ellipse">
            <a:avLst/>
          </a:prstGeom>
          <a:solidFill>
            <a:srgbClr val="00E67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973" y="4267505"/>
            <a:ext cx="416966" cy="41696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40396" y="4005072"/>
            <a:ext cx="3625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플랫폼의 부재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740396" y="4498848"/>
            <a:ext cx="35798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오픈채팅·텔레그램에 종속되어 브랜드 자산이 쌓이지 않고 차단 리스크에 노출됩니다.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F5B80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82296" cy="60350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76809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MoneySignal이 콘텐츠·운영·플랫폼을 모두 제공합니다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91440" cy="9144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  ·  파트너 제휴 제안서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514344" cy="3657600"/>
          </a:xfrm>
          <a:prstGeom prst="roundRect">
            <a:avLst>
              <a:gd name="adj" fmla="val 260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91640"/>
            <a:ext cx="3514344" cy="10972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1" name="Shape 9"/>
          <p:cNvSpPr/>
          <p:nvPr/>
        </p:nvSpPr>
        <p:spPr>
          <a:xfrm>
            <a:off x="1757172" y="2148840"/>
            <a:ext cx="1097280" cy="1097280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2465" y="2434133"/>
            <a:ext cx="526694" cy="52669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347472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콘텐츠는 AI가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14400" y="3977640"/>
            <a:ext cx="2782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4개 시장의 매매 시그널을 AI가 자동 생성. 더 이상 매일 직접 분석하지 않아도 됩니다.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2960" y="484632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시그널 엔진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37304" y="1691640"/>
            <a:ext cx="3514344" cy="3657600"/>
          </a:xfrm>
          <a:prstGeom prst="roundRect">
            <a:avLst>
              <a:gd name="adj" fmla="val 260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37304" y="1691640"/>
            <a:ext cx="3514344" cy="109728"/>
          </a:xfrm>
          <a:prstGeom prst="rect">
            <a:avLst/>
          </a:prstGeom>
          <a:solidFill>
            <a:srgbClr val="448AFF"/>
          </a:solidFill>
          <a:ln/>
        </p:spPr>
      </p:sp>
      <p:sp>
        <p:nvSpPr>
          <p:cNvPr id="18" name="Shape 15"/>
          <p:cNvSpPr/>
          <p:nvPr/>
        </p:nvSpPr>
        <p:spPr>
          <a:xfrm>
            <a:off x="5545836" y="2148840"/>
            <a:ext cx="1097280" cy="1097280"/>
          </a:xfrm>
          <a:prstGeom prst="ellipse">
            <a:avLst/>
          </a:prstGeom>
          <a:solidFill>
            <a:srgbClr val="448A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129" y="2434133"/>
            <a:ext cx="526694" cy="52669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11624" y="347472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운영은 플랫폼이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4703064" y="3977640"/>
            <a:ext cx="2782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 결제·자동 정산·구독자 관리·알림 발송을 시스템이 대신 처리합니다.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611624" y="484632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8A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결제·정산 인프라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125968" y="1691640"/>
            <a:ext cx="3514344" cy="3657600"/>
          </a:xfrm>
          <a:prstGeom prst="roundRect">
            <a:avLst>
              <a:gd name="adj" fmla="val 260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25968" y="1691640"/>
            <a:ext cx="3514344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5" name="Shape 21"/>
          <p:cNvSpPr/>
          <p:nvPr/>
        </p:nvSpPr>
        <p:spPr>
          <a:xfrm>
            <a:off x="9334500" y="2148840"/>
            <a:ext cx="1097280" cy="1097280"/>
          </a:xfrm>
          <a:prstGeom prst="ellipse">
            <a:avLst/>
          </a:prstGeom>
          <a:solidFill>
            <a:srgbClr val="00E67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793" y="2434133"/>
            <a:ext cx="526694" cy="52669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00288" y="347472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브랜드는 당신이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491728" y="3977640"/>
            <a:ext cx="2782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전용 브랜드 페이지와 추천코드로 나만의 채널을 운영하고 자산을 쌓습니다.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400288" y="484632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브랜드 채널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82296" cy="60350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SIGNAL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신뢰의 핵심 — 데이터 기반 AI 시그널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91440" cy="9144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  ·  파트너 제휴 제안서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865376"/>
            <a:ext cx="475488" cy="475488"/>
          </a:xfrm>
          <a:prstGeom prst="ellipse">
            <a:avLst/>
          </a:prstGeom>
          <a:solidFill>
            <a:srgbClr val="448A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299" y="1989003"/>
            <a:ext cx="228234" cy="2282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792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8A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63040" y="19842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데이터 수집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63040" y="2286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Binance 시세 · 한국투자증권(KIS) 실시간 주가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42416" y="2560320"/>
            <a:ext cx="0" cy="164592"/>
          </a:xfrm>
          <a:prstGeom prst="line">
            <a:avLst/>
          </a:prstGeom>
          <a:noFill/>
          <a:ln w="19050">
            <a:solidFill>
              <a:srgbClr val="2A2D3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24912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4672" y="2944368"/>
            <a:ext cx="475488" cy="475488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99" y="3067995"/>
            <a:ext cx="228234" cy="22823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63040" y="28712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2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46304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3관점 분석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463040" y="33649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Opus가 펀더멘털·기술적·매크로를 종합 분석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42416" y="3639312"/>
            <a:ext cx="0" cy="164592"/>
          </a:xfrm>
          <a:prstGeom prst="line">
            <a:avLst/>
          </a:prstGeom>
          <a:noFill/>
          <a:ln w="19050">
            <a:solidFill>
              <a:srgbClr val="2A2D3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3803904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4672" y="4023360"/>
            <a:ext cx="475488" cy="475488"/>
          </a:xfrm>
          <a:prstGeom prst="ellipse">
            <a:avLst/>
          </a:prstGeom>
          <a:solidFill>
            <a:srgbClr val="E040F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99" y="4146987"/>
            <a:ext cx="228234" cy="22823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63040" y="3950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40F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463040" y="41422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3-AI 합의 검증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463040" y="44439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Claude·Gemini·GPT가 독립 평가 후 점수 합산·합의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1042416" y="4718304"/>
            <a:ext cx="0" cy="164592"/>
          </a:xfrm>
          <a:prstGeom prst="line">
            <a:avLst/>
          </a:prstGeom>
          <a:noFill/>
          <a:ln w="19050">
            <a:solidFill>
              <a:srgbClr val="2A2D3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48640" y="4882896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04672" y="5102352"/>
            <a:ext cx="475488" cy="475488"/>
          </a:xfrm>
          <a:prstGeom prst="ellipse">
            <a:avLst/>
          </a:prstGeom>
          <a:solidFill>
            <a:srgbClr val="00E676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99" y="5225979"/>
            <a:ext cx="228234" cy="22823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6304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E6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4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463040" y="52212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추적·검증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1463040" y="55229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30분마다 시그널 결과 추적, 승률·성과 자동 기록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7315200" y="1645920"/>
            <a:ext cx="4325112" cy="4498848"/>
          </a:xfrm>
          <a:prstGeom prst="roundRect">
            <a:avLst>
              <a:gd name="adj" fmla="val 2114"/>
            </a:avLst>
          </a:prstGeom>
          <a:solidFill>
            <a:srgbClr val="11141B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7680960" y="187452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커버하는 4개 시장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7680960" y="2377440"/>
            <a:ext cx="3593592" cy="749808"/>
          </a:xfrm>
          <a:prstGeom prst="roundRect">
            <a:avLst>
              <a:gd name="adj" fmla="val 9756"/>
            </a:avLst>
          </a:prstGeom>
          <a:solidFill>
            <a:srgbClr val="22262F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882128" y="2624328"/>
            <a:ext cx="256032" cy="256032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39" name="Text 33"/>
          <p:cNvSpPr/>
          <p:nvPr/>
        </p:nvSpPr>
        <p:spPr>
          <a:xfrm>
            <a:off x="7882128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8275320" y="249631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코인 현물</a:t>
            </a:r>
            <a:endParaRPr lang="en-US" sz="1450" dirty="0"/>
          </a:p>
        </p:txBody>
      </p:sp>
      <p:sp>
        <p:nvSpPr>
          <p:cNvPr id="41" name="Text 35"/>
          <p:cNvSpPr/>
          <p:nvPr/>
        </p:nvSpPr>
        <p:spPr>
          <a:xfrm>
            <a:off x="8275320" y="278892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Binance Top 코인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7680960" y="3291840"/>
            <a:ext cx="3593592" cy="749808"/>
          </a:xfrm>
          <a:prstGeom prst="roundRect">
            <a:avLst>
              <a:gd name="adj" fmla="val 9756"/>
            </a:avLst>
          </a:prstGeom>
          <a:solidFill>
            <a:srgbClr val="22262F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882128" y="3538728"/>
            <a:ext cx="256032" cy="256032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4" name="Text 38"/>
          <p:cNvSpPr/>
          <p:nvPr/>
        </p:nvSpPr>
        <p:spPr>
          <a:xfrm>
            <a:off x="7882128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8275320" y="341071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코인 선물</a:t>
            </a:r>
            <a:endParaRPr lang="en-US" sz="1450" dirty="0"/>
          </a:p>
        </p:txBody>
      </p:sp>
      <p:sp>
        <p:nvSpPr>
          <p:cNvPr id="46" name="Text 40"/>
          <p:cNvSpPr/>
          <p:nvPr/>
        </p:nvSpPr>
        <p:spPr>
          <a:xfrm>
            <a:off x="8275320" y="370332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Long/Short · 레버리지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7680960" y="4206240"/>
            <a:ext cx="3593592" cy="749808"/>
          </a:xfrm>
          <a:prstGeom prst="roundRect">
            <a:avLst>
              <a:gd name="adj" fmla="val 9756"/>
            </a:avLst>
          </a:prstGeom>
          <a:solidFill>
            <a:srgbClr val="22262F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7882128" y="4453128"/>
            <a:ext cx="256032" cy="256032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9" name="Text 43"/>
          <p:cNvSpPr/>
          <p:nvPr/>
        </p:nvSpPr>
        <p:spPr>
          <a:xfrm>
            <a:off x="7882128" y="4453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8275320" y="432511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해외주식</a:t>
            </a:r>
            <a:endParaRPr lang="en-US" sz="1450" dirty="0"/>
          </a:p>
        </p:txBody>
      </p:sp>
      <p:sp>
        <p:nvSpPr>
          <p:cNvPr id="51" name="Text 45"/>
          <p:cNvSpPr/>
          <p:nvPr/>
        </p:nvSpPr>
        <p:spPr>
          <a:xfrm>
            <a:off x="8275320" y="461772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나스닥·S&amp;P·금·원유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7680960" y="5120640"/>
            <a:ext cx="3593592" cy="749808"/>
          </a:xfrm>
          <a:prstGeom prst="roundRect">
            <a:avLst>
              <a:gd name="adj" fmla="val 9756"/>
            </a:avLst>
          </a:prstGeom>
          <a:solidFill>
            <a:srgbClr val="22262F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882128" y="5367528"/>
            <a:ext cx="256032" cy="256032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54" name="Text 48"/>
          <p:cNvSpPr/>
          <p:nvPr/>
        </p:nvSpPr>
        <p:spPr>
          <a:xfrm>
            <a:off x="7882128" y="5367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8275320" y="523951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국내주식</a:t>
            </a:r>
            <a:endParaRPr lang="en-US" sz="1450" dirty="0"/>
          </a:p>
        </p:txBody>
      </p:sp>
      <p:sp>
        <p:nvSpPr>
          <p:cNvPr id="56" name="Text 50"/>
          <p:cNvSpPr/>
          <p:nvPr/>
        </p:nvSpPr>
        <p:spPr>
          <a:xfrm>
            <a:off x="8275320" y="553212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KIS 실시간 · Top 종목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0E67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82296" cy="60350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76809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REVENUE SHARE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업계 최고 수준 — 매출의 80~88%를 가져갑니다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91440" cy="9144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  ·  파트너 제휴 제안서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E6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80</a:t>
            </a:r>
            <a:pPr indent="0" marL="0">
              <a:buNone/>
            </a:pPr>
            <a:r>
              <a:rPr lang="en-US" sz="40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</a:t>
            </a:r>
            <a:pPr indent="0" marL="0">
              <a:buNone/>
            </a:pPr>
            <a:r>
              <a:rPr lang="en-US" sz="6400" b="1" dirty="0">
                <a:solidFill>
                  <a:srgbClr val="00E6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88</a:t>
            </a:r>
            <a:pPr indent="0" marL="0">
              <a:buNone/>
            </a:pPr>
            <a:r>
              <a:rPr lang="en-US" sz="4000" b="1" dirty="0">
                <a:solidFill>
                  <a:srgbClr val="00E6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 매출에서 파트너가 가져가는 비율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구독자가 늘수록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수수료율이 자동 상승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12080" y="1691640"/>
            <a:ext cx="1401318" cy="3108960"/>
          </a:xfrm>
          <a:prstGeom prst="roundRect">
            <a:avLst>
              <a:gd name="adj" fmla="val 6525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1691640"/>
            <a:ext cx="1401318" cy="91440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011680"/>
            <a:ext cx="1401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STARTER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560320"/>
            <a:ext cx="14013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80%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5486400" y="3566160"/>
            <a:ext cx="852678" cy="0"/>
          </a:xfrm>
          <a:prstGeom prst="line">
            <a:avLst/>
          </a:prstGeom>
          <a:noFill/>
          <a:ln w="12700">
            <a:solidFill>
              <a:srgbClr val="2A2D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703320"/>
            <a:ext cx="1401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0" y="3977640"/>
            <a:ext cx="1401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0~50명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87718" y="1691640"/>
            <a:ext cx="1401318" cy="3108960"/>
          </a:xfrm>
          <a:prstGeom prst="roundRect">
            <a:avLst>
              <a:gd name="adj" fmla="val 6525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87718" y="1691640"/>
            <a:ext cx="1401318" cy="91440"/>
          </a:xfrm>
          <a:prstGeom prst="rect">
            <a:avLst/>
          </a:prstGeom>
          <a:solidFill>
            <a:srgbClr val="448A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87718" y="2011680"/>
            <a:ext cx="1401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448A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87718" y="2560320"/>
            <a:ext cx="14013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83%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7162038" y="3566160"/>
            <a:ext cx="852678" cy="0"/>
          </a:xfrm>
          <a:prstGeom prst="line">
            <a:avLst/>
          </a:prstGeom>
          <a:noFill/>
          <a:ln w="12700">
            <a:solidFill>
              <a:srgbClr val="2A2D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7718" y="3703320"/>
            <a:ext cx="1401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87718" y="3977640"/>
            <a:ext cx="1401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51~200명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63356" y="1691640"/>
            <a:ext cx="1401318" cy="3108960"/>
          </a:xfrm>
          <a:prstGeom prst="roundRect">
            <a:avLst>
              <a:gd name="adj" fmla="val 6525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63356" y="1691640"/>
            <a:ext cx="1401318" cy="91440"/>
          </a:xfrm>
          <a:prstGeom prst="rect">
            <a:avLst/>
          </a:prstGeom>
          <a:solidFill>
            <a:srgbClr val="E040FB"/>
          </a:solidFill>
          <a:ln/>
        </p:spPr>
      </p:sp>
      <p:sp>
        <p:nvSpPr>
          <p:cNvPr id="28" name="Text 26"/>
          <p:cNvSpPr/>
          <p:nvPr/>
        </p:nvSpPr>
        <p:spPr>
          <a:xfrm>
            <a:off x="8563356" y="2011680"/>
            <a:ext cx="1401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040F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ELITE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63356" y="2560320"/>
            <a:ext cx="14013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85%</a:t>
            </a:r>
            <a:endParaRPr lang="en-US" sz="3800" dirty="0"/>
          </a:p>
        </p:txBody>
      </p:sp>
      <p:sp>
        <p:nvSpPr>
          <p:cNvPr id="30" name="Shape 28"/>
          <p:cNvSpPr/>
          <p:nvPr/>
        </p:nvSpPr>
        <p:spPr>
          <a:xfrm>
            <a:off x="8837676" y="3566160"/>
            <a:ext cx="852678" cy="0"/>
          </a:xfrm>
          <a:prstGeom prst="line">
            <a:avLst/>
          </a:prstGeom>
          <a:noFill/>
          <a:ln w="12700">
            <a:solidFill>
              <a:srgbClr val="2A2D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63356" y="3703320"/>
            <a:ext cx="1401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63356" y="3977640"/>
            <a:ext cx="1401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201~500명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238994" y="1691640"/>
            <a:ext cx="1401318" cy="3108960"/>
          </a:xfrm>
          <a:prstGeom prst="roundRect">
            <a:avLst>
              <a:gd name="adj" fmla="val 6525"/>
            </a:avLst>
          </a:prstGeom>
          <a:solidFill>
            <a:srgbClr val="1A1D26"/>
          </a:solidFill>
          <a:ln w="12700">
            <a:solidFill>
              <a:srgbClr val="F5B80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238994" y="1691640"/>
            <a:ext cx="1401318" cy="9144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5" name="Text 33"/>
          <p:cNvSpPr/>
          <p:nvPr/>
        </p:nvSpPr>
        <p:spPr>
          <a:xfrm>
            <a:off x="10238994" y="2011680"/>
            <a:ext cx="1401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LEGEND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238994" y="2560320"/>
            <a:ext cx="14013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88%</a:t>
            </a:r>
            <a:endParaRPr lang="en-US" sz="3800" dirty="0"/>
          </a:p>
        </p:txBody>
      </p:sp>
      <p:sp>
        <p:nvSpPr>
          <p:cNvPr id="37" name="Shape 35"/>
          <p:cNvSpPr/>
          <p:nvPr/>
        </p:nvSpPr>
        <p:spPr>
          <a:xfrm>
            <a:off x="10513314" y="3566160"/>
            <a:ext cx="852678" cy="0"/>
          </a:xfrm>
          <a:prstGeom prst="line">
            <a:avLst/>
          </a:prstGeom>
          <a:noFill/>
          <a:ln w="12700">
            <a:solidFill>
              <a:srgbClr val="2A2D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38994" y="3703320"/>
            <a:ext cx="1401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238994" y="3977640"/>
            <a:ext cx="1401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501명 이상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238994" y="4389120"/>
            <a:ext cx="1401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최고 등급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50749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11141B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5248656"/>
            <a:ext cx="365760" cy="365760"/>
          </a:xfrm>
          <a:prstGeom prst="ellipse">
            <a:avLst/>
          </a:prstGeom>
          <a:solidFill>
            <a:srgbClr val="00E676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5343754"/>
            <a:ext cx="175565" cy="175565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325880" y="5074920"/>
            <a:ext cx="10085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정산은 전액 자동.  </a:t>
            </a:r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매월 구독 매출이 집계되어 파트너 잔액에 적립되고, 대시보드에서 언제든 출금을 신청할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82296" cy="60350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EARNINGS SIMULATION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 규모별 예상 월 수익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91440" cy="9144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  ·  파트너 제휴 제안서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567178" cy="3703320"/>
          </a:xfrm>
          <a:prstGeom prst="roundRect">
            <a:avLst>
              <a:gd name="adj" fmla="val 356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98424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30명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54989" y="25146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4989" y="2514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Starter · 80%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29309" y="4343400"/>
            <a:ext cx="1005840" cy="384048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4727448"/>
            <a:ext cx="1744218" cy="0"/>
          </a:xfrm>
          <a:prstGeom prst="line">
            <a:avLst/>
          </a:prstGeom>
          <a:noFill/>
          <a:ln w="12700">
            <a:solidFill>
              <a:srgbClr val="2A2D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818888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 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500176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238</a:t>
            </a:r>
            <a:pPr algn="ctr"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만원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390138" y="1691640"/>
            <a:ext cx="2567178" cy="3703320"/>
          </a:xfrm>
          <a:prstGeom prst="roundRect">
            <a:avLst>
              <a:gd name="adj" fmla="val 356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90138" y="198424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100명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896487" y="25146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 w="12700">
            <a:solidFill>
              <a:srgbClr val="448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6487" y="2514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8A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 · 83%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70807" y="4111587"/>
            <a:ext cx="1005840" cy="615861"/>
          </a:xfrm>
          <a:prstGeom prst="rect">
            <a:avLst/>
          </a:prstGeom>
          <a:solidFill>
            <a:srgbClr val="448A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801618" y="4727448"/>
            <a:ext cx="1744218" cy="0"/>
          </a:xfrm>
          <a:prstGeom prst="line">
            <a:avLst/>
          </a:prstGeom>
          <a:noFill/>
          <a:ln w="12700">
            <a:solidFill>
              <a:srgbClr val="2A2D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0138" y="4818888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 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90138" y="500176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48A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822</a:t>
            </a:r>
            <a:pPr algn="ctr"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만원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231636" y="1691640"/>
            <a:ext cx="2567178" cy="3703320"/>
          </a:xfrm>
          <a:prstGeom prst="roundRect">
            <a:avLst>
              <a:gd name="adj" fmla="val 356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31636" y="198424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300명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737985" y="25146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7985" y="2514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40F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Elite · 85%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12305" y="3583707"/>
            <a:ext cx="1005840" cy="1143741"/>
          </a:xfrm>
          <a:prstGeom prst="rect">
            <a:avLst/>
          </a:prstGeom>
          <a:solidFill>
            <a:srgbClr val="E040FB"/>
          </a:solidFill>
          <a:ln/>
        </p:spPr>
      </p:sp>
      <p:sp>
        <p:nvSpPr>
          <p:cNvPr id="29" name="Shape 27"/>
          <p:cNvSpPr/>
          <p:nvPr/>
        </p:nvSpPr>
        <p:spPr>
          <a:xfrm>
            <a:off x="6643116" y="4727448"/>
            <a:ext cx="1744218" cy="0"/>
          </a:xfrm>
          <a:prstGeom prst="line">
            <a:avLst/>
          </a:prstGeom>
          <a:noFill/>
          <a:ln w="12700">
            <a:solidFill>
              <a:srgbClr val="2A2D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1636" y="4818888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 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31636" y="500176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40F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2,525</a:t>
            </a:r>
            <a:pPr algn="ctr"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만원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9073134" y="1691640"/>
            <a:ext cx="2567178" cy="3703320"/>
          </a:xfrm>
          <a:prstGeom prst="roundRect">
            <a:avLst>
              <a:gd name="adj" fmla="val 356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73134" y="198424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700명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579483" y="25146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79483" y="2514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Legend · 88%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853803" y="3099816"/>
            <a:ext cx="1005840" cy="1627632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484614" y="4727448"/>
            <a:ext cx="1744218" cy="0"/>
          </a:xfrm>
          <a:prstGeom prst="line">
            <a:avLst/>
          </a:prstGeom>
          <a:noFill/>
          <a:ln w="12700">
            <a:solidFill>
              <a:srgbClr val="2A2D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3134" y="4818888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 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073134" y="500176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6,098</a:t>
            </a:r>
            <a:pPr algn="ctr"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만원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548640" y="56235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* Pro 등급(월 99,000원) 상품 기준, 구독자 수 × 구독료 × 파트너 수수료율로 산정한 예시입니다.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82296" cy="60350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파트너에게 제공되는 모든 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91440" cy="9144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  ·  파트너 제휴 제안서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514344" cy="1993392"/>
          </a:xfrm>
          <a:prstGeom prst="roundRect">
            <a:avLst>
              <a:gd name="adj" fmla="val 4587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168042"/>
            <a:ext cx="373075" cy="3730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2852928"/>
            <a:ext cx="2874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시그널 자동 공급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68680" y="3218688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4개 시장 시그널이 매일 자동으로 채워집니다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37304" y="1645920"/>
            <a:ext cx="3514344" cy="1993392"/>
          </a:xfrm>
          <a:prstGeom prst="roundRect">
            <a:avLst>
              <a:gd name="adj" fmla="val 4587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7344" y="1965960"/>
            <a:ext cx="777240" cy="777240"/>
          </a:xfrm>
          <a:prstGeom prst="ellipse">
            <a:avLst/>
          </a:prstGeom>
          <a:solidFill>
            <a:srgbClr val="00E67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426" y="2168042"/>
            <a:ext cx="373075" cy="3730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57344" y="2852928"/>
            <a:ext cx="2874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전용 브랜드 페이지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57344" y="3218688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moneysignal.io/p/내브랜드 · 추천코드 연결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25968" y="1645920"/>
            <a:ext cx="3514344" cy="1993392"/>
          </a:xfrm>
          <a:prstGeom prst="roundRect">
            <a:avLst>
              <a:gd name="adj" fmla="val 4587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46008" y="1965960"/>
            <a:ext cx="777240" cy="777240"/>
          </a:xfrm>
          <a:prstGeom prst="ellipse">
            <a:avLst/>
          </a:prstGeom>
          <a:solidFill>
            <a:srgbClr val="448A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090" y="2168042"/>
            <a:ext cx="373075" cy="3730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46008" y="2852928"/>
            <a:ext cx="2874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수익 대시보드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446008" y="3218688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매출·구독자·잔액을 한눈에 확인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3913632"/>
            <a:ext cx="3514344" cy="1993392"/>
          </a:xfrm>
          <a:prstGeom prst="roundRect">
            <a:avLst>
              <a:gd name="adj" fmla="val 4587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68680" y="4233672"/>
            <a:ext cx="777240" cy="777240"/>
          </a:xfrm>
          <a:prstGeom prst="ellipse">
            <a:avLst/>
          </a:prstGeom>
          <a:solidFill>
            <a:srgbClr val="E040F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435754"/>
            <a:ext cx="373075" cy="3730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8680" y="5120640"/>
            <a:ext cx="2874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결제·구독 인프라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868680" y="54864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PortOne·Apple 결제, 자동 정기결제 처리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37304" y="3913632"/>
            <a:ext cx="3514344" cy="1993392"/>
          </a:xfrm>
          <a:prstGeom prst="roundRect">
            <a:avLst>
              <a:gd name="adj" fmla="val 4587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57344" y="4233672"/>
            <a:ext cx="777240" cy="777240"/>
          </a:xfrm>
          <a:prstGeom prst="ellipse">
            <a:avLst/>
          </a:prstGeom>
          <a:solidFill>
            <a:srgbClr val="00E67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426" y="4435754"/>
            <a:ext cx="373075" cy="3730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657344" y="5120640"/>
            <a:ext cx="2874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정산·출금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4657344" y="54864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매출 자동 집계, 대시보드에서 출금 신청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8125968" y="3913632"/>
            <a:ext cx="3514344" cy="1993392"/>
          </a:xfrm>
          <a:prstGeom prst="roundRect">
            <a:avLst>
              <a:gd name="adj" fmla="val 4587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446008" y="4233672"/>
            <a:ext cx="777240" cy="777240"/>
          </a:xfrm>
          <a:prstGeom prst="ellipse">
            <a:avLst/>
          </a:prstGeom>
          <a:solidFill>
            <a:srgbClr val="FF8F00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8090" y="4435754"/>
            <a:ext cx="373075" cy="37307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46008" y="5120640"/>
            <a:ext cx="2874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알림 발송 인프라</a:t>
            </a:r>
            <a:endParaRPr lang="en-US" sz="1550" dirty="0"/>
          </a:p>
        </p:txBody>
      </p:sp>
      <p:sp>
        <p:nvSpPr>
          <p:cNvPr id="37" name="Text 29"/>
          <p:cNvSpPr/>
          <p:nvPr/>
        </p:nvSpPr>
        <p:spPr>
          <a:xfrm>
            <a:off x="8446008" y="54864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텔레그램·카카오 알림톡·앱 푸시 자동 발송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82296" cy="60350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SUBSCRIPTION PLANS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구독자에게 판매하는 상품 라인업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91440" cy="9144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  ·  파트너 제휴 제안서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2377440"/>
                <a:gridCol w="1554480"/>
                <a:gridCol w="35935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B8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등급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B8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월 구독료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B8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커버 시장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B8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딜레이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B8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핵심 특징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Basic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AE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29,000원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5A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코인 현물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5A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30분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5A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입문 · 1일 3개 · TP1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Pro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AE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99,000원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5A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코인 현물+선물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5A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10분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5A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인기 · 1일 10개 · TP1~2 · 텔레그램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Premium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AE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199,000원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5A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 카테고리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E67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실시간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5A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무제한 · TP1~3 · CSV · 일일 브리핑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B8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VIP Bundle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AE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499,000원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5A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 카테고리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B8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1h 선공개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5A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VIP 채널 · 1:1 상담 · 월간 리포트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6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1141B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5221224"/>
            <a:ext cx="384048" cy="384048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092" y="5321076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5029200"/>
            <a:ext cx="10085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월간·분기·연간 </a:t>
            </a:r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주기를 선택할 수 있고, 분기 약 9~10% · 연간 약 17% 할인이 적용됩니다. 파트너는 이 라인업을 자신의 브랜드로 판매합니다.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657600" cy="3657600"/>
          </a:xfrm>
          <a:prstGeom prst="ellipse">
            <a:avLst/>
          </a:prstGeom>
          <a:solidFill>
            <a:srgbClr val="F5B80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82296" cy="60350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76809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HOW TO 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4단계로 시작합니다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91440" cy="9144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  ·  파트너 제휴 제안서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567178" cy="2971800"/>
          </a:xfrm>
          <a:prstGeom prst="roundRect">
            <a:avLst>
              <a:gd name="adj" fmla="val 356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227685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D3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2091690" y="2350008"/>
            <a:ext cx="676656" cy="676656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621" y="2525939"/>
            <a:ext cx="324795" cy="32479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1248" y="3172968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파트너 신청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59536" y="3630168"/>
            <a:ext cx="457200" cy="0"/>
          </a:xfrm>
          <a:prstGeom prst="line">
            <a:avLst/>
          </a:prstGeom>
          <a:noFill/>
          <a:ln w="25400">
            <a:solidFill>
              <a:srgbClr val="F5B8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3767328"/>
            <a:ext cx="203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브랜드명과 운영 채널 정보를 입력해 신청합니다.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106" y="3332988"/>
            <a:ext cx="237744" cy="2377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390138" y="1965960"/>
            <a:ext cx="2567178" cy="2971800"/>
          </a:xfrm>
          <a:prstGeom prst="roundRect">
            <a:avLst>
              <a:gd name="adj" fmla="val 356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682746" y="227685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D3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3800" dirty="0"/>
          </a:p>
        </p:txBody>
      </p:sp>
      <p:sp>
        <p:nvSpPr>
          <p:cNvPr id="19" name="Shape 15"/>
          <p:cNvSpPr/>
          <p:nvPr/>
        </p:nvSpPr>
        <p:spPr>
          <a:xfrm>
            <a:off x="4933188" y="2350008"/>
            <a:ext cx="676656" cy="676656"/>
          </a:xfrm>
          <a:prstGeom prst="ellipse">
            <a:avLst/>
          </a:prstGeom>
          <a:solidFill>
            <a:srgbClr val="00E67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119" y="2525939"/>
            <a:ext cx="324795" cy="32479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82746" y="3172968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심사·승인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3701034" y="3630168"/>
            <a:ext cx="457200" cy="0"/>
          </a:xfrm>
          <a:prstGeom prst="line">
            <a:avLst/>
          </a:prstGeom>
          <a:noFill/>
          <a:ln w="25400">
            <a:solidFill>
              <a:srgbClr val="00E67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82746" y="3767328"/>
            <a:ext cx="203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운영팀이 채널을 검토하고 파트너로 승인합니다.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04" y="3332988"/>
            <a:ext cx="237744" cy="23774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231636" y="1965960"/>
            <a:ext cx="2567178" cy="2971800"/>
          </a:xfrm>
          <a:prstGeom prst="roundRect">
            <a:avLst>
              <a:gd name="adj" fmla="val 356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524244" y="227685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D3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3800" dirty="0"/>
          </a:p>
        </p:txBody>
      </p:sp>
      <p:sp>
        <p:nvSpPr>
          <p:cNvPr id="27" name="Shape 21"/>
          <p:cNvSpPr/>
          <p:nvPr/>
        </p:nvSpPr>
        <p:spPr>
          <a:xfrm>
            <a:off x="7774686" y="2350008"/>
            <a:ext cx="676656" cy="676656"/>
          </a:xfrm>
          <a:prstGeom prst="ellipse">
            <a:avLst/>
          </a:prstGeom>
          <a:solidFill>
            <a:srgbClr val="448A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617" y="2525939"/>
            <a:ext cx="324795" cy="32479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24244" y="3172968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브랜드·상품 설정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6542532" y="3630168"/>
            <a:ext cx="457200" cy="0"/>
          </a:xfrm>
          <a:prstGeom prst="line">
            <a:avLst/>
          </a:prstGeom>
          <a:noFill/>
          <a:ln w="25400">
            <a:solidFill>
              <a:srgbClr val="448A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524244" y="3767328"/>
            <a:ext cx="203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 페이지와 판매 상품, 추천코드를 설정합니다.</a:t>
            </a:r>
            <a:endParaRPr lang="en-US" sz="12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7102" y="3332988"/>
            <a:ext cx="237744" cy="23774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073134" y="1965960"/>
            <a:ext cx="2567178" cy="2971800"/>
          </a:xfrm>
          <a:prstGeom prst="roundRect">
            <a:avLst>
              <a:gd name="adj" fmla="val 3562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9365742" y="227685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D3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3800" dirty="0"/>
          </a:p>
        </p:txBody>
      </p:sp>
      <p:sp>
        <p:nvSpPr>
          <p:cNvPr id="35" name="Shape 27"/>
          <p:cNvSpPr/>
          <p:nvPr/>
        </p:nvSpPr>
        <p:spPr>
          <a:xfrm>
            <a:off x="10616184" y="2350008"/>
            <a:ext cx="676656" cy="676656"/>
          </a:xfrm>
          <a:prstGeom prst="ellipse">
            <a:avLst/>
          </a:prstGeom>
          <a:solidFill>
            <a:srgbClr val="E040FB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2115" y="2525939"/>
            <a:ext cx="324795" cy="32479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365742" y="3172968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공유 → 수익</a:t>
            </a:r>
            <a:endParaRPr lang="en-US" sz="1700" dirty="0"/>
          </a:p>
        </p:txBody>
      </p:sp>
      <p:sp>
        <p:nvSpPr>
          <p:cNvPr id="38" name="Shape 29"/>
          <p:cNvSpPr/>
          <p:nvPr/>
        </p:nvSpPr>
        <p:spPr>
          <a:xfrm>
            <a:off x="9384030" y="3630168"/>
            <a:ext cx="457200" cy="0"/>
          </a:xfrm>
          <a:prstGeom prst="line">
            <a:avLst/>
          </a:prstGeom>
          <a:noFill/>
          <a:ln w="25400">
            <a:solidFill>
              <a:srgbClr val="E040FB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9365742" y="3767328"/>
            <a:ext cx="203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추천코드를 공유하면 구독 매출이 자동 정산됩니다.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48640" y="5257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승인까지는 보통 영업일 기준 1~2일이 소요됩니다.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82296" cy="60350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TRUST &amp; SAFETY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안심하고 합류할 수 있는 플랫폼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91440" cy="9144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  ·  파트너 제휴 제안서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5362956" cy="1481328"/>
          </a:xfrm>
          <a:prstGeom prst="roundRect">
            <a:avLst>
              <a:gd name="adj" fmla="val 6173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975104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2" y="2189074"/>
            <a:ext cx="395021" cy="3950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1938528"/>
            <a:ext cx="3717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정식 출시 앱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965960" y="2377440"/>
            <a:ext cx="3671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 Store · Google Play 정식 심사를 거친 네이티브 앱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77356" y="1645920"/>
            <a:ext cx="5362956" cy="1481328"/>
          </a:xfrm>
          <a:prstGeom prst="roundRect">
            <a:avLst>
              <a:gd name="adj" fmla="val 6173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24828" y="1975104"/>
            <a:ext cx="822960" cy="822960"/>
          </a:xfrm>
          <a:prstGeom prst="ellipse">
            <a:avLst/>
          </a:prstGeom>
          <a:solidFill>
            <a:srgbClr val="00E67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798" y="2189074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94676" y="1938528"/>
            <a:ext cx="3717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정식 PG 결제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694676" y="2377440"/>
            <a:ext cx="3671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PortOne·Apple 인앱결제 기반의 안전한 카드 결제·정기결제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401568"/>
            <a:ext cx="5362956" cy="1481328"/>
          </a:xfrm>
          <a:prstGeom prst="roundRect">
            <a:avLst>
              <a:gd name="adj" fmla="val 6173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96112" y="3730752"/>
            <a:ext cx="822960" cy="822960"/>
          </a:xfrm>
          <a:prstGeom prst="ellipse">
            <a:avLst/>
          </a:prstGeom>
          <a:solidFill>
            <a:srgbClr val="448A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2" y="3944722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694176"/>
            <a:ext cx="3717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투명한 정산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965960" y="4133088"/>
            <a:ext cx="3671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매출·수수료·잔액을 실시간 공개, 자동 집계·출금 처리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77356" y="3401568"/>
            <a:ext cx="5362956" cy="1481328"/>
          </a:xfrm>
          <a:prstGeom prst="roundRect">
            <a:avLst>
              <a:gd name="adj" fmla="val 6173"/>
            </a:avLst>
          </a:prstGeom>
          <a:solidFill>
            <a:srgbClr val="1A1D26"/>
          </a:solidFill>
          <a:ln w="12700">
            <a:solidFill>
              <a:srgbClr val="2A2D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24828" y="3730752"/>
            <a:ext cx="822960" cy="822960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798" y="3944722"/>
            <a:ext cx="395021" cy="39502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94676" y="3694176"/>
            <a:ext cx="3717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건전한 운영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694676" y="4133088"/>
            <a:ext cx="3671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시그널은 투자 참고용이며, 과장 없는 데이터 기반 분석 제공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50749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1141B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68680" y="507492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F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 유의  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시그널과 분석은 투자 참고 정보이며 투자 권유가 아닙니다. 투자 판단과 손익에 대한 책임은 이용자 본인에게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486400" cy="5486400"/>
          </a:xfrm>
          <a:prstGeom prst="ellipse">
            <a:avLst/>
          </a:prstGeom>
          <a:solidFill>
            <a:srgbClr val="F5B80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840480"/>
            <a:ext cx="3291840" cy="3291840"/>
          </a:xfrm>
          <a:prstGeom prst="ellipse">
            <a:avLst/>
          </a:prstGeom>
          <a:solidFill>
            <a:srgbClr val="FF8F0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</a:t>
            </a:r>
            <a:pPr indent="0" marL="0">
              <a:buNone/>
            </a:pPr>
            <a:r>
              <a:rPr lang="en-US" sz="1500" b="1" spc="200" kern="0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지금, 파트너로 합류하세요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시그널을 만들고, 플랫폼이 운영을 맡습니다. </a:t>
            </a:r>
            <a:pPr indent="0" marL="0">
              <a:buNone/>
            </a:pPr>
            <a:r>
              <a:rPr lang="en-US" sz="1800" b="1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당신은 브랜드와 수익에 집중하세요.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1A1D26"/>
          </a:solidFill>
          <a:ln w="12700">
            <a:solidFill>
              <a:srgbClr val="F5B80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4361688"/>
            <a:ext cx="512064" cy="512064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97" y="4494825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파트너 신청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08760" y="4645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moneysignal.io/partner/apply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4114800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1A1D26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4361688"/>
            <a:ext cx="512064" cy="512064"/>
          </a:xfrm>
          <a:prstGeom prst="ellipse">
            <a:avLst/>
          </a:prstGeom>
          <a:solidFill>
            <a:srgbClr val="00E67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457" y="4494825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제휴 문의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32120" y="4645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contact@moneysignal.io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5943600"/>
            <a:ext cx="11091672" cy="0"/>
          </a:xfrm>
          <a:prstGeom prst="line">
            <a:avLst/>
          </a:prstGeom>
          <a:noFill/>
          <a:ln w="12700">
            <a:solidFill>
              <a:srgbClr val="2A2D3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8640" y="6053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리딩방·트레이딩 채널 운영자를 위한 제휴 프로그램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897112" y="6053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2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© 2026 MoneySignal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MoneySignal 파트너 제휴 제안서</dc:title>
  <dc:subject>PptxGenJS Presentation</dc:subject>
  <dc:creator>MoneySignal</dc:creator>
  <cp:lastModifiedBy>MoneySignal</cp:lastModifiedBy>
  <cp:revision>1</cp:revision>
  <dcterms:created xsi:type="dcterms:W3CDTF">2026-06-04T03:15:44Z</dcterms:created>
  <dcterms:modified xsi:type="dcterms:W3CDTF">2026-06-04T03:15:44Z</dcterms:modified>
</cp:coreProperties>
</file>